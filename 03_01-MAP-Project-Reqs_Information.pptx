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60" r:id="rId3"/>
    <p:sldId id="272" r:id="rId4"/>
    <p:sldId id="261" r:id="rId5"/>
    <p:sldId id="259" r:id="rId6"/>
    <p:sldId id="263" r:id="rId7"/>
    <p:sldId id="262" r:id="rId8"/>
    <p:sldId id="264" r:id="rId9"/>
    <p:sldId id="258" r:id="rId10"/>
    <p:sldId id="271" r:id="rId11"/>
    <p:sldId id="265" r:id="rId12"/>
    <p:sldId id="267" r:id="rId13"/>
    <p:sldId id="268" r:id="rId14"/>
    <p:sldId id="270" r:id="rId15"/>
    <p:sldId id="266" r:id="rId16"/>
    <p:sldId id="26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34843"/>
    <p:restoredTop sz="96197"/>
  </p:normalViewPr>
  <p:slideViewPr>
    <p:cSldViewPr snapToGrid="0" snapToObjects="1">
      <p:cViewPr varScale="1">
        <p:scale>
          <a:sx n="66" d="100"/>
          <a:sy n="66" d="100"/>
        </p:scale>
        <p:origin x="90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D7240B-FE2D-4440-BD3D-4F2B39A4FA51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765093-8A98-114D-8143-6EEC3F6FBD9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94421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f9a7f3c24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f9a7f3c24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9a7f3c24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9a7f3c24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f9a7f3c24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f9a7f3c24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f9a7f3c24a_0_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f9a7f3c24a_0_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0DE369-D022-F947-BBFB-BD480F9791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530835-C9DB-8947-991D-A0BBCBCED06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090D1B-60FC-2C4B-BDFD-89EFCED579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37AE79-ADBF-DB40-963E-100D9D393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F32630-1CBD-A14D-BD01-842B1B329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84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FD9B75-D708-E843-881F-7213B196EE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660B26-03F3-A049-8BB1-8AAFD92EAC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F48225-130A-434F-B437-BE2337026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DEEDA33-71C6-1C4A-B54A-AACC5C8CEB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2842B2-8511-1648-968C-5820DD4208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7480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488AB3-F6C3-5348-8029-B0B417689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66CDCA3-B141-B445-B6DF-0F93F9BF5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CD1933-FB21-A045-94A8-3EBF2D2E8E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76E030-500C-8B4F-A153-199F640BBB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690092-4F3E-B84E-A0D5-B8169AC342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5815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854D28-0655-C448-BA41-CDA64FB80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AA324F-E7EA-904E-94C0-C1196DBD497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85C2F7-6CD3-3E43-8696-65D6F72EEC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0E80CA-6F6A-FF44-8138-A05B082D2A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8B95E4-3415-C14D-AE0C-6A2A6F5EAE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F82C2BC-336B-CB44-A446-E2547C12A2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1857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B6A86-C4E6-AA4A-A63C-E7798F8A46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EE3638F-CABA-2F42-9671-23400DEE63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6EE229-7F8F-5346-9C14-36E13BCF8F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2358DC-25DD-844C-B97E-1CD581DD3B5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9E9D16-D577-784B-BB1D-C263BEBC8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CCAD3F-72D9-C745-85E2-904D676F6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21C1349-0DDE-EB4B-A280-D3B9C20669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034E33C-8FD1-0A46-9A18-64C910536D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15659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7E0E6D-C87F-8644-B3C4-7D7FCE43B2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0E2ECA-8F4E-EB47-B315-5FE420F483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AA0A19-CCA8-C949-8A08-C9A125BFD6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A95A61-FC92-3644-A6CE-0B0B7FD9D2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17746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E74B74-0F39-AF41-A23A-C3B276A7A6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48B9FD9-DADD-E74F-8D72-4A32239A8A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84D7B61-494B-FD4C-9537-92C6BAEF16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7899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E447-C4A5-F54C-AF53-FACB171374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CA6C40-AEFA-C04B-93D4-185E543DCE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4A9874-7185-7B4E-BB5C-6D9F0876DA6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091CB1-6DE1-9545-9FDD-970786D21D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60D153-7497-FB43-9DC8-5524970E74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3E0713B-D811-4848-AD28-46C02A303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02563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96C2F-9AE4-B145-B29D-6D65BF1F35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861383-4720-D548-A42D-E8487DD1B4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7CC96A-8C73-FA4A-9956-40776584E6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85736A9-99B4-4F47-A304-C3672DDFA1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A80C0-53F5-1B40-9100-58413A74F1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A04B6C9-AEA3-7E4C-BCF2-810D36EE1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2166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31A33C-4131-E245-B829-175D998E10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BBF0AD6-F759-6847-91BC-8636BD97ACE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104F6C-9261-FC42-B471-150DC91668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1EE6B3F-0299-254C-9532-F2C38B5174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D8806D-2C72-E048-8840-CA4F88F99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47262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AF74E8-0193-B041-BFFB-BED7AB1A40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CDA95-9335-E848-8A2B-68B0F0EDB4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9D556-79E2-C440-ACD3-B9C920897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FDE5A3-527B-B848-84F5-127C6E20A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41565F-DA82-514D-B75E-4029939E94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17185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8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57189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1219170" lvl="1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828754" lvl="2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2438339" lvl="3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3047924" lvl="4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3657509" lvl="5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4267093" lvl="6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4876678" lvl="7" indent="-423323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5486263" lvl="8" indent="-423323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10454012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1_Section 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800" cy="1122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34132290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 and two 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6443200" y="1536633"/>
            <a:ext cx="5333200" cy="455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609585" lvl="0" indent="-423323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marL="1219170" lvl="1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2pPr>
            <a:lvl3pPr marL="1828754" lvl="2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3pPr>
            <a:lvl4pPr marL="2438339" lvl="3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4pPr>
            <a:lvl5pPr marL="3047924" lvl="4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5pPr>
            <a:lvl6pPr marL="3657509" lvl="5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6pPr>
            <a:lvl7pPr marL="4267093" lvl="6" indent="-40639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7pPr>
            <a:lvl8pPr marL="4876678" lvl="7" indent="-40639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600"/>
            </a:lvl8pPr>
            <a:lvl9pPr marL="5486263" lvl="8" indent="-40639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6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11296611" y="6217623"/>
            <a:ext cx="731600" cy="524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fld id="{00000000-1234-1234-1234-123412341234}" type="slidenum">
              <a:rPr lang="en" smtClean="0"/>
              <a:pPr/>
              <a:t>‹#›</a:t>
            </a:fld>
            <a:endParaRPr lang="en"/>
          </a:p>
        </p:txBody>
      </p:sp>
    </p:spTree>
    <p:extLst>
      <p:ext uri="{BB962C8B-B14F-4D97-AF65-F5344CB8AC3E}">
        <p14:creationId xmlns:p14="http://schemas.microsoft.com/office/powerpoint/2010/main" val="28368146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5D42E27-7CF2-C74D-8009-EC944E3D9A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306A3B6-5590-D843-9F28-B2D75F263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32F1F9-312A-1146-83AF-76009640828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2326A6-90B0-F24A-B10F-F482AF4ADB45}" type="datetimeFigureOut">
              <a:rPr lang="en-US" smtClean="0"/>
              <a:t>10/10/2025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C317775-39B5-6A40-B7B1-66EBE42F8EF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2C7E4F-6C0A-6141-A2D7-10D9E02271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635683-0965-2E41-897C-0870E72C203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7448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3.xml"/><Relationship Id="rId4" Type="http://schemas.openxmlformats.org/officeDocument/2006/relationships/hyperlink" Target="https://medium.com/@steve_mullen/an-introduction-to-lean-canvas-5c17c469d3e0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5iKitGJeAZ4" TargetMode="Externa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Relationship Id="rId5" Type="http://schemas.openxmlformats.org/officeDocument/2006/relationships/hyperlink" Target="https://www.youtube.com/watch?v=gCmTj2xOK6E" TargetMode="External"/><Relationship Id="rId4" Type="http://schemas.openxmlformats.org/officeDocument/2006/relationships/hyperlink" Target="https://www.youtube.com/watch?v=yjyhXKOq0Jg&amp;t=26s" TargetMode="Externa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hyperlink" Target="https://www.youtube.com/watch?v=B_xQKX_x5Hs" TargetMode="External"/><Relationship Id="rId4" Type="http://schemas.openxmlformats.org/officeDocument/2006/relationships/hyperlink" Target="https://www.youtube.com/watch?v=ogV2r9579WI" TargetMode="Externa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watch?v=jB3O-1AR7sM" TargetMode="Externa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4.xml"/><Relationship Id="rId4" Type="http://schemas.openxmlformats.org/officeDocument/2006/relationships/hyperlink" Target="https://www.youtube.com/watch?v=1hHMwLxN6EM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9FF27-1437-4A44-94FD-CD4ACE18F7D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Mobile Application Programming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EE85D8C-04F6-E44E-AAD8-E1DCEB840A7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Requirements &amp; Information </a:t>
            </a:r>
          </a:p>
        </p:txBody>
      </p:sp>
    </p:spTree>
    <p:extLst>
      <p:ext uri="{BB962C8B-B14F-4D97-AF65-F5344CB8AC3E}">
        <p14:creationId xmlns:p14="http://schemas.microsoft.com/office/powerpoint/2010/main" val="246534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r>
              <a:rPr lang="en" b="1" dirty="0"/>
              <a:t>Build Your SCRUM Team</a:t>
            </a:r>
            <a:endParaRPr b="1" dirty="0"/>
          </a:p>
        </p:txBody>
      </p:sp>
      <p:pic>
        <p:nvPicPr>
          <p:cNvPr id="68" name="Google Shape;6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14384" y="1404934"/>
            <a:ext cx="6728760" cy="5094633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15"/>
          <p:cNvSpPr/>
          <p:nvPr/>
        </p:nvSpPr>
        <p:spPr>
          <a:xfrm>
            <a:off x="7788968" y="732200"/>
            <a:ext cx="3015882" cy="1917694"/>
          </a:xfrm>
          <a:prstGeom prst="wedgeRoundRectCallout">
            <a:avLst>
              <a:gd name="adj1" fmla="val -71188"/>
              <a:gd name="adj2" fmla="val 6730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182563" indent="-182563">
              <a:buSzPts val="1400"/>
              <a:buFont typeface="Arial" panose="020B0604020202020204" pitchFamily="34" charset="0"/>
              <a:buChar char="•"/>
            </a:pPr>
            <a:r>
              <a:rPr lang="en-US" sz="2400" dirty="0"/>
              <a:t>Product Backlogs &amp; User Stories</a:t>
            </a:r>
          </a:p>
          <a:p>
            <a:pPr marL="182563" indent="-182563">
              <a:buSzPts val="1400"/>
              <a:buFont typeface="Arial" panose="020B0604020202020204" pitchFamily="34" charset="0"/>
              <a:buChar char="•"/>
            </a:pPr>
            <a:r>
              <a:rPr lang="en-US" sz="2400" dirty="0"/>
              <a:t>Mockup</a:t>
            </a:r>
            <a:endParaRPr sz="2400" dirty="0"/>
          </a:p>
          <a:p>
            <a:pPr marL="182563" indent="-182563">
              <a:buSzPts val="1400"/>
              <a:buFont typeface="Arial" panose="020B0604020202020204" pitchFamily="34" charset="0"/>
              <a:buChar char="•"/>
            </a:pPr>
            <a:r>
              <a:rPr lang="en" sz="2400" dirty="0"/>
              <a:t>Functional &amp; Non-Functional Testing</a:t>
            </a:r>
            <a:endParaRPr sz="2400" dirty="0"/>
          </a:p>
        </p:txBody>
      </p:sp>
      <p:sp>
        <p:nvSpPr>
          <p:cNvPr id="70" name="Google Shape;70;p15"/>
          <p:cNvSpPr/>
          <p:nvPr/>
        </p:nvSpPr>
        <p:spPr>
          <a:xfrm>
            <a:off x="1362269" y="4596100"/>
            <a:ext cx="3076297" cy="1631600"/>
          </a:xfrm>
          <a:prstGeom prst="wedgeRoundRectCallout">
            <a:avLst>
              <a:gd name="adj1" fmla="val 97414"/>
              <a:gd name="adj2" fmla="val -50793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182563" indent="-149225">
              <a:buSzPts val="1400"/>
              <a:buFont typeface="Arial" panose="020B0604020202020204" pitchFamily="34" charset="0"/>
              <a:buChar char="•"/>
            </a:pPr>
            <a:r>
              <a:rPr lang="en" sz="2400" dirty="0"/>
              <a:t>PMC – plan, monitor, control</a:t>
            </a:r>
            <a:endParaRPr sz="2400" dirty="0"/>
          </a:p>
          <a:p>
            <a:pPr marL="182563" indent="-149225">
              <a:buSzPts val="1400"/>
              <a:buFont typeface="Arial" panose="020B0604020202020204" pitchFamily="34" charset="0"/>
              <a:buChar char="•"/>
            </a:pPr>
            <a:r>
              <a:rPr lang="en-US" sz="2400" dirty="0"/>
              <a:t>Back-end developer</a:t>
            </a:r>
          </a:p>
          <a:p>
            <a:pPr marL="182563" indent="-149225">
              <a:buSzPts val="1400"/>
              <a:buFont typeface="Arial" panose="020B0604020202020204" pitchFamily="34" charset="0"/>
              <a:buChar char="•"/>
            </a:pPr>
            <a:r>
              <a:rPr lang="en-US" sz="2400" dirty="0"/>
              <a:t>System administrator</a:t>
            </a:r>
            <a:endParaRPr sz="2400" dirty="0"/>
          </a:p>
        </p:txBody>
      </p:sp>
      <p:sp>
        <p:nvSpPr>
          <p:cNvPr id="71" name="Google Shape;71;p15"/>
          <p:cNvSpPr/>
          <p:nvPr/>
        </p:nvSpPr>
        <p:spPr>
          <a:xfrm>
            <a:off x="9435433" y="5296099"/>
            <a:ext cx="2190510" cy="1203467"/>
          </a:xfrm>
          <a:prstGeom prst="wedgeRoundRectCallout">
            <a:avLst>
              <a:gd name="adj1" fmla="val -64803"/>
              <a:gd name="adj2" fmla="val -104229"/>
              <a:gd name="adj3" fmla="val 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182563" indent="-165100">
              <a:buSzPts val="1400"/>
              <a:buFont typeface="Arial" panose="020B0604020202020204" pitchFamily="34" charset="0"/>
              <a:buChar char="•"/>
            </a:pPr>
            <a:r>
              <a:rPr lang="en" sz="2400" dirty="0"/>
              <a:t>Front-end developer</a:t>
            </a:r>
            <a:endParaRPr sz="2400" dirty="0"/>
          </a:p>
          <a:p>
            <a:pPr marL="182563" indent="-165100">
              <a:buSzPts val="1400"/>
              <a:buFont typeface="Arial" panose="020B0604020202020204" pitchFamily="34" charset="0"/>
              <a:buChar char="•"/>
            </a:pPr>
            <a:r>
              <a:rPr lang="en" sz="2400" dirty="0"/>
              <a:t>Unit Testing</a:t>
            </a:r>
            <a:endParaRPr sz="24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C3BBFDF-55B1-EF41-BB05-69250F48B389}"/>
              </a:ext>
            </a:extLst>
          </p:cNvPr>
          <p:cNvSpPr txBox="1"/>
          <p:nvPr/>
        </p:nvSpPr>
        <p:spPr>
          <a:xfrm>
            <a:off x="1288408" y="2649894"/>
            <a:ext cx="315015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Scrum Master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Product Owner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Developers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i="1" dirty="0"/>
              <a:t>Cross section is NOT allowed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screenshot of a computer&#10;&#10;Description automatically generated with medium confidence">
            <a:extLst>
              <a:ext uri="{FF2B5EF4-FFF2-40B4-BE49-F238E27FC236}">
                <a16:creationId xmlns:a16="http://schemas.microsoft.com/office/drawing/2014/main" id="{4A3E4420-8744-77E1-7AFA-DE54CF1653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9125" y="1161608"/>
            <a:ext cx="11593750" cy="45347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9270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417D2-7C1E-8547-A657-6F4ED027E1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Project Specifications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61A8FC-EF8B-5A42-BDC7-AD17CD4318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5600" y="1536633"/>
            <a:ext cx="11360800" cy="4901490"/>
          </a:xfrm>
        </p:spPr>
        <p:txBody>
          <a:bodyPr>
            <a:normAutofit lnSpcReduction="10000"/>
          </a:bodyPr>
          <a:lstStyle/>
          <a:p>
            <a:r>
              <a:rPr lang="en-US" sz="2400" dirty="0"/>
              <a:t>Working on a real-world problem. You will need to gather requirements from actual users in the actual environment / workplace / domain.</a:t>
            </a:r>
          </a:p>
          <a:p>
            <a:r>
              <a:rPr lang="en-US" sz="2400" dirty="0"/>
              <a:t>The application you will be developing in this project must be a mobile app.</a:t>
            </a:r>
          </a:p>
          <a:p>
            <a:r>
              <a:rPr lang="en-US" sz="2400" dirty="0"/>
              <a:t>Regarding this, you will need to develop a front-end application (using Flutter) and a backend (using Firebase).</a:t>
            </a:r>
          </a:p>
          <a:p>
            <a:r>
              <a:rPr lang="en-US" sz="2400" dirty="0"/>
              <a:t>The application will serve at least two types of users. For example, for an online shopping application, the users can be the buyers and sellers.</a:t>
            </a:r>
          </a:p>
          <a:p>
            <a:r>
              <a:rPr lang="en-US" sz="2400" dirty="0"/>
              <a:t>Adopting at least </a:t>
            </a:r>
            <a:r>
              <a:rPr lang="en-US" sz="2400" dirty="0" err="1"/>
              <a:t>BLoC</a:t>
            </a:r>
            <a:r>
              <a:rPr lang="en-US" sz="2400" dirty="0"/>
              <a:t> pattern.</a:t>
            </a:r>
          </a:p>
          <a:p>
            <a:r>
              <a:rPr lang="en-US" sz="2400" dirty="0"/>
              <a:t>Following the SCRUM methodology for the project management.</a:t>
            </a:r>
          </a:p>
          <a:p>
            <a:r>
              <a:rPr lang="en-US" sz="2400" dirty="0"/>
              <a:t>Using GitHub for the version control system.</a:t>
            </a:r>
          </a:p>
          <a:p>
            <a:r>
              <a:rPr lang="en-US" sz="2400" dirty="0"/>
              <a:t>The application shall have the following epics:</a:t>
            </a:r>
          </a:p>
          <a:p>
            <a:pPr lvl="1"/>
            <a:r>
              <a:rPr lang="en-US" sz="2000" dirty="0"/>
              <a:t>Sprint#1 - Login and logout</a:t>
            </a:r>
          </a:p>
          <a:p>
            <a:pPr lvl="1"/>
            <a:r>
              <a:rPr lang="en-US" sz="2000" dirty="0"/>
              <a:t>Sprint#1 - Register and forgot password</a:t>
            </a:r>
          </a:p>
          <a:p>
            <a:pPr lvl="1"/>
            <a:r>
              <a:rPr lang="en-US" sz="2000" dirty="0"/>
              <a:t>Sprint#1 - User profile</a:t>
            </a:r>
          </a:p>
          <a:p>
            <a:pPr lvl="1"/>
            <a:r>
              <a:rPr lang="en-US" sz="2000" dirty="0"/>
              <a:t>Sprint#2 &amp; 3 - CRUD of 2 processes, for example: product browsing, cart </a:t>
            </a:r>
          </a:p>
          <a:p>
            <a:pPr lvl="1"/>
            <a:r>
              <a:rPr lang="en-US" sz="2000" dirty="0"/>
              <a:t>Sprint#4 - Reporting, for example sales order report</a:t>
            </a:r>
          </a:p>
          <a:p>
            <a:pPr lvl="1"/>
            <a:r>
              <a:rPr lang="en-US" sz="2000" dirty="0"/>
              <a:t>Sprint#4 - Add-on Features, for example share, notification</a:t>
            </a:r>
          </a:p>
        </p:txBody>
      </p:sp>
    </p:spTree>
    <p:extLst>
      <p:ext uri="{BB962C8B-B14F-4D97-AF65-F5344CB8AC3E}">
        <p14:creationId xmlns:p14="http://schemas.microsoft.com/office/powerpoint/2010/main" val="6449007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 idx="4294967295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en" b="1"/>
              <a:t>Start Your Project with Design Thinking Approach</a:t>
            </a:r>
            <a:endParaRPr b="1"/>
          </a:p>
        </p:txBody>
      </p:sp>
      <p:pic>
        <p:nvPicPr>
          <p:cNvPr id="61" name="Google Shape;6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63627" y="2271753"/>
            <a:ext cx="8782380" cy="40706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6FD45C16-CC54-3747-9D90-D9E07EDE418D}"/>
              </a:ext>
            </a:extLst>
          </p:cNvPr>
          <p:cNvSpPr/>
          <p:nvPr/>
        </p:nvSpPr>
        <p:spPr>
          <a:xfrm>
            <a:off x="1380932" y="3228391"/>
            <a:ext cx="4936150" cy="2844795"/>
          </a:xfrm>
          <a:prstGeom prst="rect">
            <a:avLst/>
          </a:prstGeom>
          <a:noFill/>
          <a:ln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DA9418C-D176-A84C-93E7-DDA1F5D4F206}"/>
              </a:ext>
            </a:extLst>
          </p:cNvPr>
          <p:cNvSpPr/>
          <p:nvPr/>
        </p:nvSpPr>
        <p:spPr>
          <a:xfrm>
            <a:off x="6534387" y="3228391"/>
            <a:ext cx="3411620" cy="284479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8B9397D0-BC71-2E4D-8BD0-1AF8F8C435F4}"/>
              </a:ext>
            </a:extLst>
          </p:cNvPr>
          <p:cNvSpPr txBox="1"/>
          <p:nvPr/>
        </p:nvSpPr>
        <p:spPr>
          <a:xfrm>
            <a:off x="1425108" y="6073186"/>
            <a:ext cx="8978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Week 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F03D598-FC81-F040-8673-96041643A5CD}"/>
              </a:ext>
            </a:extLst>
          </p:cNvPr>
          <p:cNvSpPr txBox="1"/>
          <p:nvPr/>
        </p:nvSpPr>
        <p:spPr>
          <a:xfrm>
            <a:off x="6592521" y="6107654"/>
            <a:ext cx="1282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Week 2 &amp; 3</a:t>
            </a:r>
          </a:p>
        </p:txBody>
      </p:sp>
      <p:sp>
        <p:nvSpPr>
          <p:cNvPr id="3" name="Right Arrow 2">
            <a:extLst>
              <a:ext uri="{FF2B5EF4-FFF2-40B4-BE49-F238E27FC236}">
                <a16:creationId xmlns:a16="http://schemas.microsoft.com/office/drawing/2014/main" id="{96A11AF1-AE51-1741-88F7-7238FC41B0CB}"/>
              </a:ext>
            </a:extLst>
          </p:cNvPr>
          <p:cNvSpPr/>
          <p:nvPr/>
        </p:nvSpPr>
        <p:spPr>
          <a:xfrm rot="16200000">
            <a:off x="8724195" y="2883079"/>
            <a:ext cx="1138334" cy="704461"/>
          </a:xfrm>
          <a:prstGeom prst="rightArrow">
            <a:avLst/>
          </a:prstGeom>
          <a:solidFill>
            <a:srgbClr val="C0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8B77B24-735D-7F4D-AAAB-03E004E1F442}"/>
              </a:ext>
            </a:extLst>
          </p:cNvPr>
          <p:cNvSpPr txBox="1"/>
          <p:nvPr/>
        </p:nvSpPr>
        <p:spPr>
          <a:xfrm>
            <a:off x="8543130" y="1766612"/>
            <a:ext cx="186948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b="1" dirty="0"/>
              <a:t>Lean Biz Canvas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b="1" dirty="0"/>
              <a:t>Project Pitching</a:t>
            </a:r>
          </a:p>
          <a:p>
            <a:pPr marL="285750" indent="-285750">
              <a:buFontTx/>
              <a:buChar char="-"/>
            </a:pPr>
            <a:endParaRPr lang="en-US" b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4697ED1-0E02-F24C-88AC-FCF00BAA4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74" y="960906"/>
            <a:ext cx="5716309" cy="46140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Google Shape;60;p14">
            <a:extLst>
              <a:ext uri="{FF2B5EF4-FFF2-40B4-BE49-F238E27FC236}">
                <a16:creationId xmlns:a16="http://schemas.microsoft.com/office/drawing/2014/main" id="{F2EF6AED-6A56-224B-8CD7-172512E9DF3C}"/>
              </a:ext>
            </a:extLst>
          </p:cNvPr>
          <p:cNvSpPr txBox="1">
            <a:spLocks/>
          </p:cNvSpPr>
          <p:nvPr/>
        </p:nvSpPr>
        <p:spPr>
          <a:xfrm>
            <a:off x="415599" y="195825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3733" b="1" dirty="0"/>
              <a:t>LEAN BUSINESS CANVAS</a:t>
            </a:r>
          </a:p>
        </p:txBody>
      </p:sp>
      <p:pic>
        <p:nvPicPr>
          <p:cNvPr id="1028" name="Picture 4">
            <a:extLst>
              <a:ext uri="{FF2B5EF4-FFF2-40B4-BE49-F238E27FC236}">
                <a16:creationId xmlns:a16="http://schemas.microsoft.com/office/drawing/2014/main" id="{01672304-842D-BA43-A553-8C41274AC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07312" y="959426"/>
            <a:ext cx="6154056" cy="4615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Rectangle 2">
            <a:extLst>
              <a:ext uri="{FF2B5EF4-FFF2-40B4-BE49-F238E27FC236}">
                <a16:creationId xmlns:a16="http://schemas.microsoft.com/office/drawing/2014/main" id="{33DFEFD3-8512-A744-85F8-1BBEAECF59C4}"/>
              </a:ext>
            </a:extLst>
          </p:cNvPr>
          <p:cNvSpPr/>
          <p:nvPr/>
        </p:nvSpPr>
        <p:spPr>
          <a:xfrm>
            <a:off x="2740883" y="5640941"/>
            <a:ext cx="6096000" cy="830997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dirty="0">
                <a:hlinkClick r:id="rId4"/>
              </a:rPr>
              <a:t>https://medium.com/@steve_mullen/an-introduction-to-lean-canvas-5c17c469d3e0</a:t>
            </a:r>
            <a:r>
              <a:rPr lang="en-US" sz="240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4021806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Graphical user interface&#10;&#10;Description automatically generated">
            <a:extLst>
              <a:ext uri="{FF2B5EF4-FFF2-40B4-BE49-F238E27FC236}">
                <a16:creationId xmlns:a16="http://schemas.microsoft.com/office/drawing/2014/main" id="{89D45AD8-6667-2247-A435-F9E246B2F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0807" y="814280"/>
            <a:ext cx="7323175" cy="4469403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471AA88-973B-8545-A0E7-6F8D6551A5CD}"/>
              </a:ext>
            </a:extLst>
          </p:cNvPr>
          <p:cNvSpPr txBox="1"/>
          <p:nvPr/>
        </p:nvSpPr>
        <p:spPr>
          <a:xfrm>
            <a:off x="1697327" y="5283683"/>
            <a:ext cx="6110134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SHARK TANK</a:t>
            </a:r>
          </a:p>
          <a:p>
            <a:r>
              <a:rPr lang="en-US" sz="2000" dirty="0">
                <a:hlinkClick r:id="rId3"/>
              </a:rPr>
              <a:t>https://www.youtube.com/watch?v=5iKitGJeAZ4</a:t>
            </a:r>
            <a:endParaRPr lang="en-US" sz="2000" dirty="0"/>
          </a:p>
          <a:p>
            <a:r>
              <a:rPr lang="en-US" sz="2000" dirty="0">
                <a:hlinkClick r:id="rId4"/>
              </a:rPr>
              <a:t>https://www.youtube.com/watch?v=yjyhXKOq0Jg&amp;t=26s</a:t>
            </a:r>
            <a:endParaRPr lang="en-US" sz="2000" dirty="0"/>
          </a:p>
          <a:p>
            <a:r>
              <a:rPr lang="en-US" sz="2000" dirty="0">
                <a:hlinkClick r:id="rId5"/>
              </a:rPr>
              <a:t>https://www.youtube.com/watch?v=gCmTj2xOK6E</a:t>
            </a:r>
            <a:endParaRPr lang="en-US" sz="2000" dirty="0"/>
          </a:p>
        </p:txBody>
      </p:sp>
      <p:sp>
        <p:nvSpPr>
          <p:cNvPr id="6" name="Google Shape;60;p14">
            <a:extLst>
              <a:ext uri="{FF2B5EF4-FFF2-40B4-BE49-F238E27FC236}">
                <a16:creationId xmlns:a16="http://schemas.microsoft.com/office/drawing/2014/main" id="{1B93F774-CD3C-BD48-885D-0EB3D56570A5}"/>
              </a:ext>
            </a:extLst>
          </p:cNvPr>
          <p:cNvSpPr txBox="1">
            <a:spLocks/>
          </p:cNvSpPr>
          <p:nvPr/>
        </p:nvSpPr>
        <p:spPr>
          <a:xfrm>
            <a:off x="415599" y="50680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3733" b="1" dirty="0"/>
              <a:t>PROJECT PITCHING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306061F-FA68-E844-AB17-71B8E3771737}"/>
              </a:ext>
            </a:extLst>
          </p:cNvPr>
          <p:cNvSpPr txBox="1"/>
          <p:nvPr/>
        </p:nvSpPr>
        <p:spPr>
          <a:xfrm>
            <a:off x="8546841" y="2387262"/>
            <a:ext cx="3016723" cy="132343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2000" dirty="0"/>
              <a:t>Problem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2000" dirty="0"/>
              <a:t>Solution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2000" dirty="0"/>
              <a:t>Unique Value Proposition</a:t>
            </a:r>
          </a:p>
          <a:p>
            <a:pPr marL="182563" indent="-182563">
              <a:buFont typeface="Arial" panose="020B0604020202020204" pitchFamily="34" charset="0"/>
              <a:buChar char="•"/>
            </a:pPr>
            <a:r>
              <a:rPr lang="en-US" sz="2000" dirty="0"/>
              <a:t>Mockup Demonstration </a:t>
            </a:r>
          </a:p>
        </p:txBody>
      </p:sp>
    </p:spTree>
    <p:extLst>
      <p:ext uri="{BB962C8B-B14F-4D97-AF65-F5344CB8AC3E}">
        <p14:creationId xmlns:p14="http://schemas.microsoft.com/office/powerpoint/2010/main" val="7624248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 idx="4294967295"/>
          </p:nvPr>
        </p:nvSpPr>
        <p:spPr>
          <a:xfrm>
            <a:off x="415600" y="95199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>
              <a:spcBef>
                <a:spcPts val="0"/>
              </a:spcBef>
            </a:pPr>
            <a:r>
              <a:rPr lang="en" b="1" dirty="0"/>
              <a:t>THEME, EPIC, USER STORY &amp; TASK</a:t>
            </a:r>
            <a:endParaRPr b="1" dirty="0"/>
          </a:p>
        </p:txBody>
      </p:sp>
      <p:pic>
        <p:nvPicPr>
          <p:cNvPr id="1026" name="Picture 2" descr="Useful Tips on How to Write Greatest Epics | by Tatiana Sinitsyna |  Hygger.io | Medium">
            <a:extLst>
              <a:ext uri="{FF2B5EF4-FFF2-40B4-BE49-F238E27FC236}">
                <a16:creationId xmlns:a16="http://schemas.microsoft.com/office/drawing/2014/main" id="{77CB3FC4-550B-F145-8CAF-77717BF27F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357" y="858799"/>
            <a:ext cx="9255980" cy="535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ight Arrow 5">
            <a:extLst>
              <a:ext uri="{FF2B5EF4-FFF2-40B4-BE49-F238E27FC236}">
                <a16:creationId xmlns:a16="http://schemas.microsoft.com/office/drawing/2014/main" id="{D452D011-101E-0B4F-B4E8-7BE3ABC2F4D7}"/>
              </a:ext>
            </a:extLst>
          </p:cNvPr>
          <p:cNvSpPr/>
          <p:nvPr/>
        </p:nvSpPr>
        <p:spPr>
          <a:xfrm>
            <a:off x="9360445" y="3965677"/>
            <a:ext cx="839019" cy="53749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561FD21-D1FA-B348-BDCB-34644054BCA4}"/>
              </a:ext>
            </a:extLst>
          </p:cNvPr>
          <p:cNvSpPr txBox="1"/>
          <p:nvPr/>
        </p:nvSpPr>
        <p:spPr>
          <a:xfrm>
            <a:off x="10199464" y="4029240"/>
            <a:ext cx="180927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CARDS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F0C4E8B-36FF-B142-AE3E-21064220DE9A}"/>
              </a:ext>
            </a:extLst>
          </p:cNvPr>
          <p:cNvSpPr/>
          <p:nvPr/>
        </p:nvSpPr>
        <p:spPr>
          <a:xfrm>
            <a:off x="2499156" y="6214045"/>
            <a:ext cx="4473661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hlinkClick r:id="rId4"/>
              </a:rPr>
              <a:t>https://www.youtube.com/watch?v=ogV2r9579WI</a:t>
            </a:r>
            <a:endParaRPr lang="en-US" sz="1600" dirty="0"/>
          </a:p>
          <a:p>
            <a:r>
              <a:rPr lang="en-US" sz="1600" dirty="0">
                <a:hlinkClick r:id="rId5"/>
              </a:rPr>
              <a:t>https://www.youtube.com/watch?v=B_xQKX_x5Hs</a:t>
            </a:r>
            <a:r>
              <a:rPr lang="en-US" sz="1600" dirty="0"/>
              <a:t>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product backlog vs sprint backlog">
            <a:extLst>
              <a:ext uri="{FF2B5EF4-FFF2-40B4-BE49-F238E27FC236}">
                <a16:creationId xmlns:a16="http://schemas.microsoft.com/office/drawing/2014/main" id="{4D06A856-A066-3743-B2FE-CD5427AC5F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8934" y="1007534"/>
            <a:ext cx="10634133" cy="48429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CD8526-3811-2E44-8BA7-F5629B2CDE97}"/>
              </a:ext>
            </a:extLst>
          </p:cNvPr>
          <p:cNvSpPr txBox="1"/>
          <p:nvPr/>
        </p:nvSpPr>
        <p:spPr>
          <a:xfrm>
            <a:off x="1284748" y="5991122"/>
            <a:ext cx="203042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… more stories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4E6BF7A-AA4E-5F42-8B70-F5E29EB03A78}"/>
              </a:ext>
            </a:extLst>
          </p:cNvPr>
          <p:cNvSpPr/>
          <p:nvPr/>
        </p:nvSpPr>
        <p:spPr>
          <a:xfrm>
            <a:off x="4155769" y="1769807"/>
            <a:ext cx="6843252" cy="2897239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2BB775-B9C4-FD45-BA8B-13FFA7494FF3}"/>
              </a:ext>
            </a:extLst>
          </p:cNvPr>
          <p:cNvSpPr txBox="1"/>
          <p:nvPr/>
        </p:nvSpPr>
        <p:spPr>
          <a:xfrm>
            <a:off x="5580906" y="4848386"/>
            <a:ext cx="466204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Sprint #1 = minimum viable product</a:t>
            </a:r>
          </a:p>
        </p:txBody>
      </p:sp>
      <p:sp>
        <p:nvSpPr>
          <p:cNvPr id="9" name="Google Shape;60;p14">
            <a:extLst>
              <a:ext uri="{FF2B5EF4-FFF2-40B4-BE49-F238E27FC236}">
                <a16:creationId xmlns:a16="http://schemas.microsoft.com/office/drawing/2014/main" id="{4620D9A3-F50A-8340-B8B2-C2706AF6B14B}"/>
              </a:ext>
            </a:extLst>
          </p:cNvPr>
          <p:cNvSpPr txBox="1">
            <a:spLocks/>
          </p:cNvSpPr>
          <p:nvPr/>
        </p:nvSpPr>
        <p:spPr>
          <a:xfrm>
            <a:off x="415600" y="95199"/>
            <a:ext cx="11360800" cy="7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rmAutofit fontScale="97500" lnSpcReduction="100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MY" sz="3733" b="1" dirty="0"/>
              <a:t>PRODUCT BACKLOG &amp; SPRINT BACKLOG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2DCEFF3-D55A-5643-BD51-58AE872DEC7E}"/>
              </a:ext>
            </a:extLst>
          </p:cNvPr>
          <p:cNvSpPr/>
          <p:nvPr/>
        </p:nvSpPr>
        <p:spPr>
          <a:xfrm>
            <a:off x="4815738" y="5850467"/>
            <a:ext cx="696928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>
                <a:hlinkClick r:id="rId3"/>
              </a:rPr>
              <a:t>https://www.youtube.com/watch?v=jB3O-1AR7sM</a:t>
            </a:r>
            <a:endParaRPr lang="en-US" sz="2400" dirty="0"/>
          </a:p>
          <a:p>
            <a:r>
              <a:rPr lang="en-US" sz="2400" dirty="0">
                <a:hlinkClick r:id="rId4"/>
              </a:rPr>
              <a:t>https://www.youtube.com/watch?v=1hHMwLxN6EM</a:t>
            </a:r>
            <a:r>
              <a:rPr lang="en-US" sz="2400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4805332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B49B9A-C07D-BB46-A21A-598BA9B4A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PRODUCT BACKLOG</a:t>
            </a:r>
          </a:p>
        </p:txBody>
      </p:sp>
      <p:pic>
        <p:nvPicPr>
          <p:cNvPr id="6" name="Picture 5" descr="A picture containing timeline&#10;&#10;Description automatically generated">
            <a:extLst>
              <a:ext uri="{FF2B5EF4-FFF2-40B4-BE49-F238E27FC236}">
                <a16:creationId xmlns:a16="http://schemas.microsoft.com/office/drawing/2014/main" id="{5BAEC29F-53CD-F84F-9B7F-CEE57981B0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72296"/>
            <a:ext cx="12192000" cy="18567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982594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>
            <a:extLst>
              <a:ext uri="{FF2B5EF4-FFF2-40B4-BE49-F238E27FC236}">
                <a16:creationId xmlns:a16="http://schemas.microsoft.com/office/drawing/2014/main" id="{8C731ACE-AD71-D74B-A2B1-63F6F740E5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8467"/>
            <a:ext cx="12192000" cy="68410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10-point Star 1">
            <a:extLst>
              <a:ext uri="{FF2B5EF4-FFF2-40B4-BE49-F238E27FC236}">
                <a16:creationId xmlns:a16="http://schemas.microsoft.com/office/drawing/2014/main" id="{51668D86-643B-F648-A1F8-014BFEE7CD4F}"/>
              </a:ext>
            </a:extLst>
          </p:cNvPr>
          <p:cNvSpPr/>
          <p:nvPr/>
        </p:nvSpPr>
        <p:spPr>
          <a:xfrm>
            <a:off x="8957389" y="4553339"/>
            <a:ext cx="2108718" cy="1754155"/>
          </a:xfrm>
          <a:prstGeom prst="star10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Using TRELLO or JIRA</a:t>
            </a:r>
          </a:p>
        </p:txBody>
      </p:sp>
    </p:spTree>
    <p:extLst>
      <p:ext uri="{BB962C8B-B14F-4D97-AF65-F5344CB8AC3E}">
        <p14:creationId xmlns:p14="http://schemas.microsoft.com/office/powerpoint/2010/main" val="35313926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A6324F-67F7-FB4C-BBA4-17A1FC581A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 bwMode="auto">
          <a:xfrm>
            <a:off x="196718" y="2588932"/>
            <a:ext cx="11798565" cy="19703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3EF7C8B9-8B70-8A43-AB8C-F405A81D2C70}"/>
              </a:ext>
            </a:extLst>
          </p:cNvPr>
          <p:cNvSpPr/>
          <p:nvPr/>
        </p:nvSpPr>
        <p:spPr>
          <a:xfrm>
            <a:off x="462454" y="462762"/>
            <a:ext cx="2410373" cy="1401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b="1" u="sng" dirty="0"/>
              <a:t>TRELLO or JIRA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/>
              <a:t>Sprint Backlog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US" sz="1600" dirty="0"/>
              <a:t>User Stories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CD944517-69CE-B341-9204-C29A4EDDFBB9}"/>
              </a:ext>
            </a:extLst>
          </p:cNvPr>
          <p:cNvCxnSpPr>
            <a:cxnSpLocks/>
            <a:stCxn id="4" idx="2"/>
          </p:cNvCxnSpPr>
          <p:nvPr/>
        </p:nvCxnSpPr>
        <p:spPr>
          <a:xfrm flipH="1">
            <a:off x="1008995" y="1863835"/>
            <a:ext cx="658645" cy="117715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66950074-AEEC-EF49-8224-53C443049C93}"/>
              </a:ext>
            </a:extLst>
          </p:cNvPr>
          <p:cNvSpPr/>
          <p:nvPr/>
        </p:nvSpPr>
        <p:spPr>
          <a:xfrm>
            <a:off x="4890812" y="5153459"/>
            <a:ext cx="2410373" cy="1559148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600" dirty="0"/>
              <a:t>Monitoring by SM:</a:t>
            </a:r>
          </a:p>
          <a:p>
            <a:pPr marL="366713" indent="-214313">
              <a:buFont typeface="Arial" panose="020B0604020202020204" pitchFamily="34" charset="0"/>
              <a:buChar char="•"/>
            </a:pPr>
            <a:r>
              <a:rPr lang="en-US" sz="1600" dirty="0"/>
              <a:t>Burndown chart</a:t>
            </a:r>
          </a:p>
          <a:p>
            <a:pPr marL="366713" indent="-214313">
              <a:buFont typeface="Arial" panose="020B0604020202020204" pitchFamily="34" charset="0"/>
              <a:buChar char="•"/>
            </a:pPr>
            <a:r>
              <a:rPr lang="en-US" sz="1600" dirty="0" err="1"/>
              <a:t>GITHub</a:t>
            </a:r>
            <a:r>
              <a:rPr lang="en-US" sz="1600" dirty="0"/>
              <a:t> or </a:t>
            </a:r>
            <a:r>
              <a:rPr lang="en-US" sz="1600" dirty="0" err="1"/>
              <a:t>GITLab</a:t>
            </a:r>
            <a:endParaRPr lang="en-US" sz="1600" dirty="0"/>
          </a:p>
          <a:p>
            <a:r>
              <a:rPr lang="en-US" sz="1600" dirty="0"/>
              <a:t>Internal Testing by PO</a:t>
            </a:r>
          </a:p>
        </p:txBody>
      </p:sp>
      <p:sp>
        <p:nvSpPr>
          <p:cNvPr id="10" name="Right Brace 9">
            <a:extLst>
              <a:ext uri="{FF2B5EF4-FFF2-40B4-BE49-F238E27FC236}">
                <a16:creationId xmlns:a16="http://schemas.microsoft.com/office/drawing/2014/main" id="{9D742E08-01FF-D842-9565-1074AB7A1F00}"/>
              </a:ext>
            </a:extLst>
          </p:cNvPr>
          <p:cNvSpPr/>
          <p:nvPr/>
        </p:nvSpPr>
        <p:spPr>
          <a:xfrm rot="5400000">
            <a:off x="5964726" y="158176"/>
            <a:ext cx="368195" cy="9521491"/>
          </a:xfrm>
          <a:prstGeom prst="rightBrace">
            <a:avLst/>
          </a:prstGeom>
          <a:ln w="38100">
            <a:solidFill>
              <a:srgbClr val="00206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2400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9A520CE-21F4-8F42-8359-F612CA230835}"/>
              </a:ext>
            </a:extLst>
          </p:cNvPr>
          <p:cNvSpPr/>
          <p:nvPr/>
        </p:nvSpPr>
        <p:spPr>
          <a:xfrm>
            <a:off x="3183262" y="462762"/>
            <a:ext cx="2880097" cy="1401073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28594" indent="-228594">
              <a:buFont typeface="Arial" panose="020B0604020202020204" pitchFamily="34" charset="0"/>
              <a:buChar char="•"/>
            </a:pPr>
            <a:r>
              <a:rPr lang="en-MY" sz="1600" dirty="0"/>
              <a:t>Video-Record</a:t>
            </a:r>
          </a:p>
          <a:p>
            <a:pPr marL="228594" indent="-228594">
              <a:buFont typeface="Arial" panose="020B0604020202020204" pitchFamily="34" charset="0"/>
              <a:buChar char="•"/>
            </a:pPr>
            <a:r>
              <a:rPr lang="en-MY" sz="1600" dirty="0"/>
              <a:t>Note of Discussion</a:t>
            </a:r>
            <a:endParaRPr lang="en-US" sz="1600" dirty="0"/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F19686E6-3716-984C-AEBD-8C799BDBA41A}"/>
              </a:ext>
            </a:extLst>
          </p:cNvPr>
          <p:cNvCxnSpPr>
            <a:cxnSpLocks/>
            <a:stCxn id="11" idx="2"/>
          </p:cNvCxnSpPr>
          <p:nvPr/>
        </p:nvCxnSpPr>
        <p:spPr>
          <a:xfrm flipH="1">
            <a:off x="3183262" y="1863836"/>
            <a:ext cx="1440049" cy="1821817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C289DEC-CBC7-4A48-9FC6-E1D8E745ED90}"/>
              </a:ext>
            </a:extLst>
          </p:cNvPr>
          <p:cNvCxnSpPr>
            <a:cxnSpLocks/>
            <a:stCxn id="11" idx="2"/>
          </p:cNvCxnSpPr>
          <p:nvPr/>
        </p:nvCxnSpPr>
        <p:spPr>
          <a:xfrm>
            <a:off x="4623312" y="1863835"/>
            <a:ext cx="3128577" cy="1761336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21FDBCFF-E264-074C-BEBF-4475D3F6B359}"/>
              </a:ext>
            </a:extLst>
          </p:cNvPr>
          <p:cNvSpPr/>
          <p:nvPr/>
        </p:nvSpPr>
        <p:spPr>
          <a:xfrm>
            <a:off x="9204004" y="462762"/>
            <a:ext cx="2410373" cy="1401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Conduct Testing Session with Client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A4DB28A-83C2-C14D-A253-E31B1BC622E3}"/>
              </a:ext>
            </a:extLst>
          </p:cNvPr>
          <p:cNvSpPr txBox="1"/>
          <p:nvPr/>
        </p:nvSpPr>
        <p:spPr>
          <a:xfrm>
            <a:off x="196550" y="3784123"/>
            <a:ext cx="958083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FF0000"/>
                </a:solidFill>
              </a:rPr>
              <a:t>Lead by PO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B14E477-A0D3-F54D-AA74-2A8343B07C8F}"/>
              </a:ext>
            </a:extLst>
          </p:cNvPr>
          <p:cNvSpPr txBox="1"/>
          <p:nvPr/>
        </p:nvSpPr>
        <p:spPr>
          <a:xfrm>
            <a:off x="2529846" y="3984672"/>
            <a:ext cx="958083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FF0000"/>
                </a:solidFill>
              </a:rPr>
              <a:t>Lead by PO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07BB784-3CA5-804A-B045-4DCB42C2C47B}"/>
              </a:ext>
            </a:extLst>
          </p:cNvPr>
          <p:cNvSpPr txBox="1"/>
          <p:nvPr/>
        </p:nvSpPr>
        <p:spPr>
          <a:xfrm>
            <a:off x="10909570" y="3409824"/>
            <a:ext cx="958083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FF0000"/>
                </a:solidFill>
              </a:rPr>
              <a:t>Lead by PO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99F486-1346-5749-A587-A1417A34FDFE}"/>
              </a:ext>
            </a:extLst>
          </p:cNvPr>
          <p:cNvSpPr txBox="1"/>
          <p:nvPr/>
        </p:nvSpPr>
        <p:spPr>
          <a:xfrm>
            <a:off x="1388079" y="3090711"/>
            <a:ext cx="98052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FF0000"/>
                </a:solidFill>
              </a:rPr>
              <a:t>Lead by SM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3048B437-9670-AD4E-8BC3-C5E4F5E9A9A5}"/>
              </a:ext>
            </a:extLst>
          </p:cNvPr>
          <p:cNvSpPr txBox="1"/>
          <p:nvPr/>
        </p:nvSpPr>
        <p:spPr>
          <a:xfrm>
            <a:off x="10911943" y="4550112"/>
            <a:ext cx="980525" cy="2974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33" dirty="0">
                <a:solidFill>
                  <a:srgbClr val="FF0000"/>
                </a:solidFill>
              </a:rPr>
              <a:t>Lead by SM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89F10E6E-9673-1E4F-8FCD-F79F4B8C1889}"/>
              </a:ext>
            </a:extLst>
          </p:cNvPr>
          <p:cNvCxnSpPr>
            <a:cxnSpLocks/>
            <a:stCxn id="18" idx="2"/>
          </p:cNvCxnSpPr>
          <p:nvPr/>
        </p:nvCxnSpPr>
        <p:spPr>
          <a:xfrm>
            <a:off x="10409191" y="1863835"/>
            <a:ext cx="618980" cy="2102468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>
            <a:extLst>
              <a:ext uri="{FF2B5EF4-FFF2-40B4-BE49-F238E27FC236}">
                <a16:creationId xmlns:a16="http://schemas.microsoft.com/office/drawing/2014/main" id="{24BD6FC0-639A-B14A-9374-FAEBB08162C6}"/>
              </a:ext>
            </a:extLst>
          </p:cNvPr>
          <p:cNvSpPr/>
          <p:nvPr/>
        </p:nvSpPr>
        <p:spPr>
          <a:xfrm>
            <a:off x="6345734" y="462762"/>
            <a:ext cx="2652045" cy="1401073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Conduct Performance &amp; Security Testing by SM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E97560F-1CD7-2B4A-BDD8-74C92C6BDF90}"/>
              </a:ext>
            </a:extLst>
          </p:cNvPr>
          <p:cNvCxnSpPr>
            <a:cxnSpLocks/>
            <a:stCxn id="27" idx="2"/>
          </p:cNvCxnSpPr>
          <p:nvPr/>
        </p:nvCxnSpPr>
        <p:spPr>
          <a:xfrm>
            <a:off x="7671757" y="1863836"/>
            <a:ext cx="2237055" cy="2329449"/>
          </a:xfrm>
          <a:prstGeom prst="straightConnector1">
            <a:avLst/>
          </a:prstGeom>
          <a:ln w="38100">
            <a:solidFill>
              <a:srgbClr val="00206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861091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9B9A9A-FC32-E74C-95D8-29B5FAECB6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dirty="0"/>
              <a:t>KANBAN</a:t>
            </a:r>
          </a:p>
        </p:txBody>
      </p:sp>
      <p:pic>
        <p:nvPicPr>
          <p:cNvPr id="2050" name="Picture 2" descr="A Trello board with four columns: To-Do, Development, Quality Assurance, and Deployed.">
            <a:extLst>
              <a:ext uri="{FF2B5EF4-FFF2-40B4-BE49-F238E27FC236}">
                <a16:creationId xmlns:a16="http://schemas.microsoft.com/office/drawing/2014/main" id="{315840EE-35F5-FF49-B274-293960E3B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8983" r="18306"/>
          <a:stretch/>
        </p:blipFill>
        <p:spPr bwMode="auto">
          <a:xfrm>
            <a:off x="415601" y="1438334"/>
            <a:ext cx="7645831" cy="52747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5469A3F-6E11-7048-95F5-BD7F000F8BA6}"/>
              </a:ext>
            </a:extLst>
          </p:cNvPr>
          <p:cNvSpPr txBox="1"/>
          <p:nvPr/>
        </p:nvSpPr>
        <p:spPr>
          <a:xfrm>
            <a:off x="7889695" y="1599228"/>
            <a:ext cx="4120055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MY" sz="2400" b="1" dirty="0"/>
              <a:t>To-Do</a:t>
            </a:r>
            <a:r>
              <a:rPr lang="en-MY" sz="2400" dirty="0"/>
              <a:t> (Sprint Backlog) - feature is waiting for development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MY" sz="2400" b="1" dirty="0"/>
              <a:t>Development</a:t>
            </a:r>
            <a:r>
              <a:rPr lang="en-MY" sz="2400" dirty="0"/>
              <a:t> (In-Progress) - feature is assigned to a developer and he/she is working on it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MY" sz="2400" b="1" dirty="0"/>
              <a:t>Quality Assurance</a:t>
            </a:r>
            <a:r>
              <a:rPr lang="en-MY" sz="2400" dirty="0"/>
              <a:t> (Review) - feature is in review</a:t>
            </a:r>
          </a:p>
          <a:p>
            <a:pPr marL="380990" indent="-380990" fontAlgn="base">
              <a:buFont typeface="Arial" panose="020B0604020202020204" pitchFamily="34" charset="0"/>
              <a:buChar char="•"/>
            </a:pPr>
            <a:r>
              <a:rPr lang="en-MY" sz="2400" b="1" dirty="0"/>
              <a:t>Deployed</a:t>
            </a:r>
            <a:r>
              <a:rPr lang="en-MY" sz="2400" dirty="0"/>
              <a:t> (Completed) - feature is accepted and included in application release</a:t>
            </a:r>
          </a:p>
        </p:txBody>
      </p:sp>
    </p:spTree>
    <p:extLst>
      <p:ext uri="{BB962C8B-B14F-4D97-AF65-F5344CB8AC3E}">
        <p14:creationId xmlns:p14="http://schemas.microsoft.com/office/powerpoint/2010/main" val="208635737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7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800" cy="7636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t" anchorCtr="0">
            <a:normAutofit fontScale="90000"/>
          </a:bodyPr>
          <a:lstStyle/>
          <a:p>
            <a:pPr algn="ctr"/>
            <a:r>
              <a:rPr lang="en"/>
              <a:t>Release on Each Sprint a Minimum Viable Product</a:t>
            </a:r>
            <a:endParaRPr/>
          </a:p>
        </p:txBody>
      </p:sp>
      <p:pic>
        <p:nvPicPr>
          <p:cNvPr id="84" name="Google Shape;84;p17"/>
          <p:cNvPicPr preferRelativeResize="0"/>
          <p:nvPr/>
        </p:nvPicPr>
        <p:blipFill rotWithShape="1">
          <a:blip r:embed="rId3">
            <a:alphaModFix/>
          </a:blip>
          <a:srcRect t="22498"/>
          <a:stretch/>
        </p:blipFill>
        <p:spPr>
          <a:xfrm>
            <a:off x="318600" y="2080501"/>
            <a:ext cx="5777400" cy="3948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99203" y="2224467"/>
            <a:ext cx="5689597" cy="3660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60;p14">
            <a:extLst>
              <a:ext uri="{FF2B5EF4-FFF2-40B4-BE49-F238E27FC236}">
                <a16:creationId xmlns:a16="http://schemas.microsoft.com/office/drawing/2014/main" id="{A66C37F0-306E-934C-A26E-19B9B12CAD9B}"/>
              </a:ext>
            </a:extLst>
          </p:cNvPr>
          <p:cNvSpPr txBox="1">
            <a:spLocks/>
          </p:cNvSpPr>
          <p:nvPr/>
        </p:nvSpPr>
        <p:spPr>
          <a:xfrm>
            <a:off x="411350" y="763324"/>
            <a:ext cx="5404629" cy="5126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MY" sz="3600" b="1" dirty="0"/>
              <a:t>NOTE OF DISCUSSION</a:t>
            </a:r>
          </a:p>
          <a:p>
            <a:r>
              <a:rPr lang="en-MY" sz="3600" b="1" dirty="0"/>
              <a:t>(NOD)</a:t>
            </a:r>
          </a:p>
          <a:p>
            <a:endParaRPr lang="en-MY" sz="2400" b="1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MY" sz="2400" dirty="0"/>
              <a:t>Video-record all discussions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MY" sz="2400" dirty="0"/>
              <a:t>Upload to </a:t>
            </a:r>
            <a:r>
              <a:rPr lang="en-MY" sz="2400" dirty="0" err="1"/>
              <a:t>Youtube</a:t>
            </a:r>
            <a:endParaRPr lang="en-MY" sz="2400" dirty="0"/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MY" sz="2400" dirty="0"/>
              <a:t>Provide link in the NOD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en-MY" sz="2400" dirty="0"/>
              <a:t>5 NODs from:</a:t>
            </a:r>
          </a:p>
          <a:p>
            <a:pPr marL="1028700" lvl="1" indent="-571500">
              <a:buFont typeface="Wingdings" pitchFamily="2" charset="2"/>
              <a:buChar char="Ø"/>
            </a:pPr>
            <a:r>
              <a:rPr lang="en-MY" sz="2400" dirty="0"/>
              <a:t>Preparation of Lean Business Canvas, Project Pitching &amp; Product Backlog</a:t>
            </a:r>
          </a:p>
          <a:p>
            <a:pPr marL="1028700" lvl="1" indent="-571500">
              <a:buFont typeface="Wingdings" pitchFamily="2" charset="2"/>
              <a:buChar char="Ø"/>
            </a:pPr>
            <a:r>
              <a:rPr lang="en-MY" sz="2400" dirty="0"/>
              <a:t>Sprint #1</a:t>
            </a:r>
          </a:p>
          <a:p>
            <a:pPr marL="1028700" lvl="1" indent="-571500">
              <a:buFont typeface="Wingdings" pitchFamily="2" charset="2"/>
              <a:buChar char="Ø"/>
            </a:pPr>
            <a:r>
              <a:rPr lang="en-MY" sz="2400" dirty="0"/>
              <a:t>Sprint #2</a:t>
            </a:r>
          </a:p>
          <a:p>
            <a:pPr marL="1028700" lvl="1" indent="-571500">
              <a:buFont typeface="Wingdings" pitchFamily="2" charset="2"/>
              <a:buChar char="Ø"/>
            </a:pPr>
            <a:r>
              <a:rPr lang="en-MY" sz="2400" dirty="0"/>
              <a:t>Sprint #3</a:t>
            </a:r>
          </a:p>
          <a:p>
            <a:pPr marL="1028700" lvl="1" indent="-571500">
              <a:buFont typeface="Wingdings" pitchFamily="2" charset="2"/>
              <a:buChar char="Ø"/>
            </a:pPr>
            <a:r>
              <a:rPr lang="en-MY" sz="2400" dirty="0"/>
              <a:t>Sprint #4</a:t>
            </a:r>
          </a:p>
        </p:txBody>
      </p:sp>
      <p:pic>
        <p:nvPicPr>
          <p:cNvPr id="5" name="Picture 4" descr="Graphical user interface&#10;&#10;Description automatically generated with low confidence">
            <a:extLst>
              <a:ext uri="{FF2B5EF4-FFF2-40B4-BE49-F238E27FC236}">
                <a16:creationId xmlns:a16="http://schemas.microsoft.com/office/drawing/2014/main" id="{EAD40A03-5C01-EA41-8715-B0C9481BDD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15979" y="0"/>
            <a:ext cx="578518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870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01F5D9-3872-5145-8771-97BC5C0658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6794" y="2813843"/>
            <a:ext cx="3733800" cy="1325563"/>
          </a:xfrm>
        </p:spPr>
        <p:txBody>
          <a:bodyPr/>
          <a:lstStyle/>
          <a:p>
            <a:r>
              <a:rPr lang="en-US" dirty="0"/>
              <a:t>PROJECT DELIVERABLES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63FDC346-DD51-BD45-A5C6-967BB8EEE7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1541601"/>
              </p:ext>
            </p:extLst>
          </p:nvPr>
        </p:nvGraphicFramePr>
        <p:xfrm>
          <a:off x="3931974" y="1952624"/>
          <a:ext cx="7693969" cy="3048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01726">
                  <a:extLst>
                    <a:ext uri="{9D8B030D-6E8A-4147-A177-3AD203B41FA5}">
                      <a16:colId xmlns:a16="http://schemas.microsoft.com/office/drawing/2014/main" val="2165126343"/>
                    </a:ext>
                  </a:extLst>
                </a:gridCol>
                <a:gridCol w="3892243">
                  <a:extLst>
                    <a:ext uri="{9D8B030D-6E8A-4147-A177-3AD203B41FA5}">
                      <a16:colId xmlns:a16="http://schemas.microsoft.com/office/drawing/2014/main" val="161451949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ARTIFACTS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/>
                        <a:t>Submission / Presentation Date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51332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Project Group Information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Before Mid Term Exam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147338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Lean Business Canvas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99165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3-Min Project Pitching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r>
                        <a:rPr lang="en-US" sz="1600" dirty="0"/>
                        <a:t>Before Mid Term Exam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2932823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Product Backlog</a:t>
                      </a:r>
                    </a:p>
                  </a:txBody>
                  <a:tcPr/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Before Final Exam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6978990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600" dirty="0"/>
                        <a:t>Sprint Presentation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999005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600" dirty="0"/>
                        <a:t>10-Min App Demo</a:t>
                      </a:r>
                    </a:p>
                    <a:p>
                      <a:r>
                        <a:rPr lang="en-US" sz="1600" dirty="0"/>
                        <a:t>30-Sec Product Video</a:t>
                      </a:r>
                    </a:p>
                    <a:p>
                      <a:r>
                        <a:rPr lang="en-US" sz="1600" dirty="0"/>
                        <a:t>Digital Poster</a:t>
                      </a: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496622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023499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494</TotalTime>
  <Words>595</Words>
  <Application>Microsoft Office PowerPoint</Application>
  <PresentationFormat>Widescreen</PresentationFormat>
  <Paragraphs>104</Paragraphs>
  <Slides>16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Calibri Light</vt:lpstr>
      <vt:lpstr>Wingdings</vt:lpstr>
      <vt:lpstr>Office Theme</vt:lpstr>
      <vt:lpstr>Mobile Application Programming</vt:lpstr>
      <vt:lpstr>Build Your SCRUM Team</vt:lpstr>
      <vt:lpstr>PowerPoint Presentation</vt:lpstr>
      <vt:lpstr>Project Specifications</vt:lpstr>
      <vt:lpstr>Start Your Project with Design Thinking Approach</vt:lpstr>
      <vt:lpstr>PowerPoint Presentation</vt:lpstr>
      <vt:lpstr>PowerPoint Presentation</vt:lpstr>
      <vt:lpstr>THEME, EPIC, USER STORY &amp; TASK</vt:lpstr>
      <vt:lpstr>PowerPoint Presentation</vt:lpstr>
      <vt:lpstr>PRODUCT BACKLOG</vt:lpstr>
      <vt:lpstr>PowerPoint Presentation</vt:lpstr>
      <vt:lpstr>PowerPoint Presentation</vt:lpstr>
      <vt:lpstr>KANBAN</vt:lpstr>
      <vt:lpstr>Release on Each Sprint a Minimum Viable Product</vt:lpstr>
      <vt:lpstr>PowerPoint Presentation</vt:lpstr>
      <vt:lpstr>PROJECT DELIVERABLES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Mobile Application Programming</dc:title>
  <dc:creator>Razib Othman</dc:creator>
  <cp:lastModifiedBy>MUHAMMAD KHATIBSYARBINI 16880</cp:lastModifiedBy>
  <cp:revision>48</cp:revision>
  <dcterms:created xsi:type="dcterms:W3CDTF">2022-03-21T01:30:09Z</dcterms:created>
  <dcterms:modified xsi:type="dcterms:W3CDTF">2025-10-10T14:37:24Z</dcterms:modified>
</cp:coreProperties>
</file>